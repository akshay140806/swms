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01EC0F-36A8-435A-8F2A-D7EABE2E9507}" v="1" dt="2026-09-17T06:51:49.9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Y J" userId="63efe3ab5639da51" providerId="LiveId" clId="{BFC5D26E-79B7-48C9-B5AE-0E5977105882}"/>
    <pc:docChg chg="undo custSel modSld">
      <pc:chgData name="AKSHAY J" userId="63efe3ab5639da51" providerId="LiveId" clId="{BFC5D26E-79B7-48C9-B5AE-0E5977105882}" dt="2026-09-17T08:35:09.805" v="55" actId="20577"/>
      <pc:docMkLst>
        <pc:docMk/>
      </pc:docMkLst>
      <pc:sldChg chg="addSp delSp modSp mod">
        <pc:chgData name="AKSHAY J" userId="63efe3ab5639da51" providerId="LiveId" clId="{BFC5D26E-79B7-48C9-B5AE-0E5977105882}" dt="2026-09-17T08:35:09.805" v="55" actId="20577"/>
        <pc:sldMkLst>
          <pc:docMk/>
          <pc:sldMk cId="0" sldId="256"/>
        </pc:sldMkLst>
        <pc:spChg chg="mod">
          <ac:chgData name="AKSHAY J" userId="63efe3ab5639da51" providerId="LiveId" clId="{BFC5D26E-79B7-48C9-B5AE-0E5977105882}" dt="2026-09-17T06:58:27.988" v="49" actId="114"/>
          <ac:spMkLst>
            <pc:docMk/>
            <pc:sldMk cId="0" sldId="256"/>
            <ac:spMk id="5" creationId="{00000000-0000-0000-0000-000000000000}"/>
          </ac:spMkLst>
        </pc:spChg>
        <pc:spChg chg="mod">
          <ac:chgData name="AKSHAY J" userId="63efe3ab5639da51" providerId="LiveId" clId="{BFC5D26E-79B7-48C9-B5AE-0E5977105882}" dt="2026-09-17T08:35:09.805" v="55" actId="20577"/>
          <ac:spMkLst>
            <pc:docMk/>
            <pc:sldMk cId="0" sldId="256"/>
            <ac:spMk id="6" creationId="{00000000-0000-0000-0000-000000000000}"/>
          </ac:spMkLst>
        </pc:spChg>
        <pc:picChg chg="add mod">
          <ac:chgData name="AKSHAY J" userId="63efe3ab5639da51" providerId="LiveId" clId="{BFC5D26E-79B7-48C9-B5AE-0E5977105882}" dt="2026-09-15T05:47:02.127" v="37" actId="1076"/>
          <ac:picMkLst>
            <pc:docMk/>
            <pc:sldMk cId="0" sldId="256"/>
            <ac:picMk id="11" creationId="{5EE64964-AE90-78B6-D853-02E761C8D19D}"/>
          </ac:picMkLst>
        </pc:picChg>
      </pc:sldChg>
      <pc:sldChg chg="modSp mod">
        <pc:chgData name="AKSHAY J" userId="63efe3ab5639da51" providerId="LiveId" clId="{BFC5D26E-79B7-48C9-B5AE-0E5977105882}" dt="2026-09-17T06:49:26.574" v="39" actId="20577"/>
        <pc:sldMkLst>
          <pc:docMk/>
          <pc:sldMk cId="0" sldId="265"/>
        </pc:sldMkLst>
        <pc:spChg chg="mod">
          <ac:chgData name="AKSHAY J" userId="63efe3ab5639da51" providerId="LiveId" clId="{BFC5D26E-79B7-48C9-B5AE-0E5977105882}" dt="2026-09-17T06:49:26.574" v="39" actId="20577"/>
          <ac:spMkLst>
            <pc:docMk/>
            <pc:sldMk cId="0" sldId="265"/>
            <ac:spMk id="4" creationId="{00000000-0000-0000-0000-000000000000}"/>
          </ac:spMkLst>
        </pc:spChg>
      </pc:sldChg>
      <pc:sldChg chg="addSp delSp modSp mod">
        <pc:chgData name="AKSHAY J" userId="63efe3ab5639da51" providerId="LiveId" clId="{BFC5D26E-79B7-48C9-B5AE-0E5977105882}" dt="2026-09-17T06:52:39.792" v="47" actId="478"/>
        <pc:sldMkLst>
          <pc:docMk/>
          <pc:sldMk cId="0" sldId="266"/>
        </pc:sldMkLst>
        <pc:spChg chg="add del mod">
          <ac:chgData name="AKSHAY J" userId="63efe3ab5639da51" providerId="LiveId" clId="{BFC5D26E-79B7-48C9-B5AE-0E5977105882}" dt="2026-09-17T06:52:39.792" v="47" actId="478"/>
          <ac:spMkLst>
            <pc:docMk/>
            <pc:sldMk cId="0" sldId="266"/>
            <ac:spMk id="3" creationId="{3B0A8461-55F7-10A6-3406-34B0296581AE}"/>
          </ac:spMkLst>
        </pc:spChg>
        <pc:picChg chg="add mod">
          <ac:chgData name="AKSHAY J" userId="63efe3ab5639da51" providerId="LiveId" clId="{BFC5D26E-79B7-48C9-B5AE-0E5977105882}" dt="2026-09-17T06:51:47.180" v="43" actId="14100"/>
          <ac:picMkLst>
            <pc:docMk/>
            <pc:sldMk cId="0" sldId="266"/>
            <ac:picMk id="71" creationId="{5389F365-80B4-7059-25F3-4967010CC521}"/>
          </ac:picMkLst>
        </pc:picChg>
      </pc:sldChg>
      <pc:sldChg chg="addSp delSp modSp mod">
        <pc:chgData name="AKSHAY J" userId="63efe3ab5639da51" providerId="LiveId" clId="{BFC5D26E-79B7-48C9-B5AE-0E5977105882}" dt="2026-09-06T15:41:12.554" v="24" actId="113"/>
        <pc:sldMkLst>
          <pc:docMk/>
          <pc:sldMk cId="0" sldId="267"/>
        </pc:sldMkLst>
        <pc:spChg chg="mod">
          <ac:chgData name="AKSHAY J" userId="63efe3ab5639da51" providerId="LiveId" clId="{BFC5D26E-79B7-48C9-B5AE-0E5977105882}" dt="2026-09-06T15:41:12.554" v="24" actId="113"/>
          <ac:spMkLst>
            <pc:docMk/>
            <pc:sldMk cId="0" sldId="26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6882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8B12FF42-78AA-43B7-BE38-617D6A986F75}" type="datetime1">
              <a:rPr lang="en-US" smtClean="0"/>
              <a:t>9/17/2026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416790901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F88F8D0-0E9B-4650-859F-69E8A62E8B3F}" type="datetime1">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58019812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56D64244-A3D4-4B68-87F0-779EEA0C37FE}" type="datetime1">
              <a:rPr lang="en-US" smtClean="0"/>
              <a:t>9/17/2026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98966209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56D64244-A3D4-4B68-87F0-779EEA0C37FE}" type="datetime1">
              <a:rPr lang="en-US" smtClean="0"/>
              <a:t>9/17/2026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83823041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56D64244-A3D4-4B68-87F0-779EEA0C37FE}" type="datetime1">
              <a:rPr lang="en-US" smtClean="0"/>
              <a:t>9/17/2026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490694489"/>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0A4DEF6-D0A5-424B-A38E-B8028C0E0D08}" type="datetime1">
              <a:rPr lang="en-US" smtClean="0"/>
              <a:t>9/17/2026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45278717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2B09C6DF-0139-4F07-BF9C-4309D0C9DCA6}" type="datetime1">
              <a:rPr lang="en-US" smtClean="0"/>
              <a:t>9/17/2026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360049121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6D64244-A3D4-4B68-87F0-779EEA0C37FE}" type="datetime1">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7900005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6D64244-A3D4-4B68-87F0-779EEA0C37FE}" type="datetime1">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206869688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56D64244-A3D4-4B68-87F0-779EEA0C37FE}" type="datetime1">
              <a:rPr lang="en-US" smtClean="0"/>
              <a:t>9/17/2026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424852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56D64244-A3D4-4B68-87F0-779EEA0C37FE}" type="datetime1">
              <a:rPr lang="en-US" smtClean="0"/>
              <a:t>9/17/2026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54133202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56D64244-A3D4-4B68-87F0-779EEA0C37FE}" type="datetime1">
              <a:rPr lang="en-US" smtClean="0"/>
              <a:t>9/17/2026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DDF60B60-82CA-4BB9-BA6E-A62FADF2374B}"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0476990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56D64244-A3D4-4B68-87F0-779EEA0C37FE}" type="datetime1">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DDF60B60-82CA-4BB9-BA6E-A62FADF2374B}"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7909194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56D64244-A3D4-4B68-87F0-779EEA0C37FE}" type="datetime1">
              <a:rPr lang="en-US" smtClean="0"/>
              <a:t>9/17/2026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DDF60B60-82CA-4BB9-BA6E-A62FADF2374B}"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84590829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56D64244-A3D4-4B68-87F0-779EEA0C37FE}" type="datetime1">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76021072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6D64244-A3D4-4B68-87F0-779EEA0C37FE}" type="datetime1">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401616792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r>
              <a:rPr lang="en-US"/>
              <a:t>Sample Footer Text</a:t>
            </a:r>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56D64244-A3D4-4B68-87F0-779EEA0C37FE}" type="datetime1">
              <a:rPr lang="en-US" smtClean="0"/>
              <a:t>9/17/2026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45399339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6D64244-A3D4-4B68-87F0-779EEA0C37FE}" type="datetime1">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35160894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AC8F0CD-CD54-4D81-AA2E-F53EC757E087}" type="datetime1">
              <a:rPr lang="en-US" smtClean="0"/>
              <a:t>9/17/2026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dirty="0"/>
          </a:p>
        </p:txBody>
      </p:sp>
    </p:spTree>
    <p:extLst>
      <p:ext uri="{BB962C8B-B14F-4D97-AF65-F5344CB8AC3E}">
        <p14:creationId xmlns:p14="http://schemas.microsoft.com/office/powerpoint/2010/main" val="408398183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036278C-3666-418F-8843-DFD38DB3098D}" type="datetime1">
              <a:rPr lang="en-US" smtClean="0"/>
              <a:t>9/17/2026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67525009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6D64244-A3D4-4B68-87F0-779EEA0C37FE}" type="datetime1">
              <a:rPr lang="en-US" smtClean="0"/>
              <a:t>9/17/2026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926409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20F022F-161E-41B9-A1BC-CC85E43B1AF4}" type="datetime1">
              <a:rPr lang="en-US" smtClean="0"/>
              <a:t>9/17/2026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130418546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6BC8F49A-9797-4EFB-8F78-023201B418DD}" type="datetime1">
              <a:rPr lang="en-US" smtClean="0"/>
              <a:t>9/17/2026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47976890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1E57D35-FD3E-408B-A06E-7ED09E94C083}" type="datetime1">
              <a:rPr lang="en-US" smtClean="0"/>
              <a:t>9/17/2026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17073790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334BC47-E75B-4512-AE58-14F5144E068D}" type="datetime1">
              <a:rPr lang="en-US" smtClean="0"/>
              <a:t>9/17/2026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030131233"/>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6D64244-A3D4-4B68-87F0-779EEA0C37FE}" type="datetime1">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13392410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6D64244-A3D4-4B68-87F0-779EEA0C37FE}" type="datetime1">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52648258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8735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56D64244-A3D4-4B68-87F0-779EEA0C37FE}" type="datetime1">
              <a:rPr lang="en-US" smtClean="0"/>
              <a:t>9/17/2026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414353576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Lst>
  <p:hf sldNum="0" hdr="0" ftr="0" dt="0"/>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914400" y="640080"/>
            <a:ext cx="10362895" cy="411480"/>
          </a:xfrm>
          <a:prstGeom prst="rect">
            <a:avLst/>
          </a:prstGeom>
          <a:noFill/>
          <a:ln/>
        </p:spPr>
        <p:txBody>
          <a:bodyPr wrap="square" lIns="0" tIns="0" rIns="0" bIns="0" rtlCol="0" anchor="ctr"/>
          <a:lstStyle/>
          <a:p>
            <a:pPr marL="0" indent="0" algn="ctr">
              <a:buNone/>
            </a:pPr>
            <a:r>
              <a:rPr lang="en-US" sz="2000" b="1" dirty="0">
                <a:solidFill>
                  <a:srgbClr val="333333"/>
                </a:solidFill>
                <a:latin typeface="Times New Roman" pitchFamily="34" charset="0"/>
                <a:ea typeface="Times New Roman" pitchFamily="34" charset="-122"/>
                <a:cs typeface="Times New Roman" pitchFamily="34" charset="-120"/>
              </a:rPr>
              <a:t>SRM EASWARI ENGINEERING COLLEGE</a:t>
            </a:r>
            <a:endParaRPr lang="en-US" sz="2000" b="1" dirty="0"/>
          </a:p>
        </p:txBody>
      </p:sp>
      <p:sp>
        <p:nvSpPr>
          <p:cNvPr id="3" name="Text 1"/>
          <p:cNvSpPr txBox="1"/>
          <p:nvPr/>
        </p:nvSpPr>
        <p:spPr>
          <a:xfrm>
            <a:off x="914400" y="1051560"/>
            <a:ext cx="10362895" cy="365760"/>
          </a:xfrm>
          <a:prstGeom prst="rect">
            <a:avLst/>
          </a:prstGeom>
          <a:noFill/>
          <a:ln/>
        </p:spPr>
        <p:txBody>
          <a:bodyPr wrap="square" lIns="0" tIns="0" rIns="0" bIns="0" rtlCol="0" anchor="ctr"/>
          <a:lstStyle/>
          <a:p>
            <a:pPr marL="0" indent="0" algn="ctr">
              <a:buNone/>
            </a:pPr>
            <a:r>
              <a:rPr lang="en-US" sz="1600" dirty="0">
                <a:solidFill>
                  <a:srgbClr val="666666"/>
                </a:solidFill>
                <a:latin typeface="Times New Roman" pitchFamily="34" charset="0"/>
                <a:ea typeface="Times New Roman" pitchFamily="34" charset="-122"/>
                <a:cs typeface="Times New Roman" pitchFamily="34" charset="-120"/>
              </a:rPr>
              <a:t>Ramapuram, Chennai - 89</a:t>
            </a:r>
            <a:endParaRPr lang="en-US" sz="1600" dirty="0"/>
          </a:p>
        </p:txBody>
      </p:sp>
      <p:sp>
        <p:nvSpPr>
          <p:cNvPr id="4" name="Text 2"/>
          <p:cNvSpPr txBox="1"/>
          <p:nvPr/>
        </p:nvSpPr>
        <p:spPr>
          <a:xfrm>
            <a:off x="1463040" y="1845945"/>
            <a:ext cx="9814255" cy="1188720"/>
          </a:xfrm>
          <a:prstGeom prst="rect">
            <a:avLst/>
          </a:prstGeom>
          <a:noFill/>
          <a:ln/>
        </p:spPr>
        <p:txBody>
          <a:bodyPr wrap="square" lIns="0" tIns="0" rIns="0" bIns="0" rtlCol="0" anchor="ctr"/>
          <a:lstStyle/>
          <a:p>
            <a:pPr marL="0" indent="0" algn="ctr">
              <a:buNone/>
            </a:pPr>
            <a:r>
              <a:rPr lang="en-US" sz="2800" b="1" dirty="0">
                <a:solidFill>
                  <a:srgbClr val="333333"/>
                </a:solidFill>
                <a:latin typeface="Times New Roman" pitchFamily="34" charset="0"/>
                <a:ea typeface="Times New Roman" pitchFamily="34" charset="-122"/>
                <a:cs typeface="Times New Roman" pitchFamily="34" charset="-120"/>
              </a:rPr>
              <a:t>Smart Warehouse Management System for Real-Time Inventory, Storage and Dispatch Optimization</a:t>
            </a:r>
            <a:endParaRPr lang="en-US" sz="2800" dirty="0"/>
          </a:p>
        </p:txBody>
      </p:sp>
      <p:sp>
        <p:nvSpPr>
          <p:cNvPr id="5" name="Text 3"/>
          <p:cNvSpPr txBox="1"/>
          <p:nvPr/>
        </p:nvSpPr>
        <p:spPr>
          <a:xfrm>
            <a:off x="1300687" y="3131820"/>
            <a:ext cx="9814255" cy="365760"/>
          </a:xfrm>
          <a:prstGeom prst="rect">
            <a:avLst/>
          </a:prstGeom>
          <a:noFill/>
          <a:ln/>
        </p:spPr>
        <p:txBody>
          <a:bodyPr wrap="square" lIns="0" tIns="0" rIns="0" bIns="0" rtlCol="0" anchor="ctr"/>
          <a:lstStyle/>
          <a:p>
            <a:pPr marL="0" indent="0" algn="ctr">
              <a:buNone/>
            </a:pPr>
            <a:r>
              <a:rPr lang="en-US" sz="1800" dirty="0">
                <a:solidFill>
                  <a:srgbClr val="5B4E3B"/>
                </a:solidFill>
                <a:latin typeface="Times New Roman" pitchFamily="34" charset="0"/>
                <a:ea typeface="Times New Roman" pitchFamily="34" charset="-122"/>
                <a:cs typeface="Times New Roman" pitchFamily="34" charset="-120"/>
              </a:rPr>
              <a:t>DEPARTMENT OF INFORMATION TECHNOLOGY</a:t>
            </a:r>
            <a:endParaRPr lang="en-US" sz="1800" dirty="0"/>
          </a:p>
        </p:txBody>
      </p:sp>
      <p:sp>
        <p:nvSpPr>
          <p:cNvPr id="6" name="Text 4"/>
          <p:cNvSpPr txBox="1"/>
          <p:nvPr/>
        </p:nvSpPr>
        <p:spPr>
          <a:xfrm>
            <a:off x="1366002" y="3760470"/>
            <a:ext cx="9814255" cy="365760"/>
          </a:xfrm>
          <a:prstGeom prst="rect">
            <a:avLst/>
          </a:prstGeom>
          <a:noFill/>
          <a:ln/>
        </p:spPr>
        <p:txBody>
          <a:bodyPr wrap="square" lIns="0" tIns="0" rIns="0" bIns="0" rtlCol="0" anchor="ctr"/>
          <a:lstStyle/>
          <a:p>
            <a:pPr marL="0" indent="0" algn="ctr">
              <a:buNone/>
            </a:pPr>
            <a:r>
              <a:rPr lang="en-US" sz="1800" dirty="0">
                <a:solidFill>
                  <a:srgbClr val="333333"/>
                </a:solidFill>
                <a:latin typeface="Times New Roman" pitchFamily="34" charset="0"/>
                <a:ea typeface="Times New Roman" pitchFamily="34" charset="-122"/>
                <a:cs typeface="Times New Roman" pitchFamily="34" charset="-120"/>
              </a:rPr>
              <a:t>FULL STACK DEVELOPMENT – 2311CSC503R</a:t>
            </a:r>
            <a:endParaRPr lang="en-US" sz="1800" dirty="0"/>
          </a:p>
        </p:txBody>
      </p:sp>
      <p:sp>
        <p:nvSpPr>
          <p:cNvPr id="7" name="Text 5"/>
          <p:cNvSpPr txBox="1"/>
          <p:nvPr/>
        </p:nvSpPr>
        <p:spPr>
          <a:xfrm>
            <a:off x="8276559" y="5105711"/>
            <a:ext cx="4114800" cy="914400"/>
          </a:xfrm>
          <a:prstGeom prst="rect">
            <a:avLst/>
          </a:prstGeom>
          <a:noFill/>
          <a:ln/>
        </p:spPr>
        <p:txBody>
          <a:bodyPr wrap="square" lIns="0" tIns="0" rIns="0" bIns="0" rtlCol="0" anchor="ctr"/>
          <a:lstStyle/>
          <a:p>
            <a:pPr marL="0" indent="0" algn="ctr">
              <a:buNone/>
            </a:pPr>
            <a:r>
              <a:rPr lang="en-US" sz="1800" b="1" dirty="0">
                <a:solidFill>
                  <a:srgbClr val="5B4E3B"/>
                </a:solidFill>
                <a:latin typeface="Times New Roman" pitchFamily="34" charset="0"/>
                <a:ea typeface="Times New Roman" pitchFamily="34" charset="-122"/>
                <a:cs typeface="Times New Roman" pitchFamily="34" charset="-120"/>
              </a:rPr>
              <a:t>Under the guidance of
</a:t>
            </a:r>
            <a:endParaRPr lang="en-US" sz="1800" dirty="0"/>
          </a:p>
          <a:p>
            <a:pPr marL="0" indent="0" algn="ctr">
              <a:buNone/>
            </a:pPr>
            <a:r>
              <a:rPr lang="en-US" sz="1800" b="1" dirty="0">
                <a:solidFill>
                  <a:srgbClr val="5B4E3B"/>
                </a:solidFill>
                <a:latin typeface="Times New Roman" pitchFamily="34" charset="0"/>
                <a:ea typeface="Times New Roman" pitchFamily="34" charset="-122"/>
                <a:cs typeface="Times New Roman" pitchFamily="34" charset="-120"/>
              </a:rPr>
              <a:t>MS. SAI LAKSHMI</a:t>
            </a:r>
            <a:endParaRPr lang="en-US" sz="1800" dirty="0"/>
          </a:p>
        </p:txBody>
      </p:sp>
      <p:sp>
        <p:nvSpPr>
          <p:cNvPr id="8" name="Text 6"/>
          <p:cNvSpPr txBox="1"/>
          <p:nvPr/>
        </p:nvSpPr>
        <p:spPr>
          <a:xfrm>
            <a:off x="201858" y="5105711"/>
            <a:ext cx="4114800" cy="914400"/>
          </a:xfrm>
          <a:prstGeom prst="rect">
            <a:avLst/>
          </a:prstGeom>
          <a:noFill/>
          <a:ln/>
        </p:spPr>
        <p:txBody>
          <a:bodyPr wrap="square" lIns="0" tIns="0" rIns="0" bIns="0" rtlCol="0" anchor="ctr"/>
          <a:lstStyle/>
          <a:p>
            <a:pPr marL="0" indent="0" algn="ctr">
              <a:buNone/>
            </a:pPr>
            <a:r>
              <a:rPr lang="en-US" sz="1800" b="1" dirty="0">
                <a:solidFill>
                  <a:srgbClr val="5B4E3B"/>
                </a:solidFill>
                <a:latin typeface="Times New Roman" pitchFamily="34" charset="0"/>
                <a:ea typeface="Times New Roman" pitchFamily="34" charset="-122"/>
                <a:cs typeface="Times New Roman" pitchFamily="34" charset="-120"/>
              </a:rPr>
              <a:t>PRESENTED BY
</a:t>
            </a:r>
            <a:endParaRPr lang="en-US" sz="1800" dirty="0"/>
          </a:p>
          <a:p>
            <a:pPr marL="0" indent="0" algn="ctr">
              <a:buNone/>
            </a:pPr>
            <a:r>
              <a:rPr lang="en-US" b="1" dirty="0">
                <a:solidFill>
                  <a:srgbClr val="5B4E3B"/>
                </a:solidFill>
                <a:latin typeface="Times New Roman" pitchFamily="34" charset="0"/>
                <a:ea typeface="Times New Roman" pitchFamily="34" charset="-122"/>
                <a:cs typeface="Times New Roman" pitchFamily="34" charset="-120"/>
              </a:rPr>
              <a:t>AKSHAY J</a:t>
            </a:r>
            <a:r>
              <a:rPr lang="en-US" sz="1800" b="1" dirty="0">
                <a:solidFill>
                  <a:srgbClr val="5B4E3B"/>
                </a:solidFill>
                <a:latin typeface="Times New Roman" pitchFamily="34" charset="0"/>
                <a:ea typeface="Times New Roman" pitchFamily="34" charset="-122"/>
                <a:cs typeface="Times New Roman" pitchFamily="34" charset="-120"/>
              </a:rPr>
              <a:t>(310624205009)</a:t>
            </a:r>
            <a:endParaRPr lang="en-US" sz="1800" dirty="0"/>
          </a:p>
        </p:txBody>
      </p:sp>
      <p:pic>
        <p:nvPicPr>
          <p:cNvPr id="11" name="Picture 10">
            <a:extLst>
              <a:ext uri="{FF2B5EF4-FFF2-40B4-BE49-F238E27FC236}">
                <a16:creationId xmlns:a16="http://schemas.microsoft.com/office/drawing/2014/main" id="{5EE64964-AE90-78B6-D853-02E761C8D19D}"/>
              </a:ext>
            </a:extLst>
          </p:cNvPr>
          <p:cNvPicPr>
            <a:picLocks noChangeAspect="1"/>
          </p:cNvPicPr>
          <p:nvPr/>
        </p:nvPicPr>
        <p:blipFill>
          <a:blip r:embed="rId3"/>
          <a:stretch>
            <a:fillRect/>
          </a:stretch>
        </p:blipFill>
        <p:spPr>
          <a:xfrm>
            <a:off x="514578" y="280035"/>
            <a:ext cx="1417320" cy="1417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CONTENTS :</a:t>
            </a:r>
            <a:endParaRPr lang="en-US" sz="2000" dirty="0"/>
          </a:p>
        </p:txBody>
      </p:sp>
      <p:sp>
        <p:nvSpPr>
          <p:cNvPr id="3" name="Text 1"/>
          <p:cNvSpPr txBox="1"/>
          <p:nvPr/>
        </p:nvSpPr>
        <p:spPr>
          <a:xfrm>
            <a:off x="914400" y="1280160"/>
            <a:ext cx="10362895" cy="4937760"/>
          </a:xfrm>
          <a:prstGeom prst="rect">
            <a:avLst/>
          </a:prstGeom>
          <a:noFill/>
          <a:ln/>
        </p:spPr>
        <p:txBody>
          <a:bodyPr wrap="square" lIns="0" tIns="0" rIns="0" bIns="0" rtlCol="0" anchor="t"/>
          <a:lstStyle/>
          <a:p>
            <a:pPr marL="342900" indent="-342900">
              <a:lnSpc>
                <a:spcPct val="15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Title</a:t>
            </a:r>
            <a:endParaRPr lang="en-US" sz="1800" dirty="0"/>
          </a:p>
          <a:p>
            <a:pPr marL="342900" indent="-342900">
              <a:lnSpc>
                <a:spcPct val="15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Abstract</a:t>
            </a:r>
            <a:endParaRPr lang="en-US" sz="1800" dirty="0"/>
          </a:p>
          <a:p>
            <a:pPr marL="342900" indent="-342900">
              <a:lnSpc>
                <a:spcPct val="15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Introduction</a:t>
            </a:r>
            <a:endParaRPr lang="en-US" sz="1800" dirty="0"/>
          </a:p>
          <a:p>
            <a:pPr marL="342900" indent="-342900">
              <a:lnSpc>
                <a:spcPct val="15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Literature Survey</a:t>
            </a:r>
            <a:endParaRPr lang="en-US" sz="1800" dirty="0"/>
          </a:p>
          <a:p>
            <a:pPr marL="342900" indent="-342900">
              <a:lnSpc>
                <a:spcPct val="15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Existing System and Disadvantages</a:t>
            </a:r>
            <a:endParaRPr lang="en-US" sz="1800" dirty="0"/>
          </a:p>
          <a:p>
            <a:pPr marL="342900" indent="-342900">
              <a:lnSpc>
                <a:spcPct val="15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Proposed System and Advantages</a:t>
            </a:r>
            <a:endParaRPr lang="en-US" sz="1800" dirty="0"/>
          </a:p>
          <a:p>
            <a:pPr marL="342900" indent="-342900">
              <a:lnSpc>
                <a:spcPct val="15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System Requirements</a:t>
            </a:r>
            <a:endParaRPr lang="en-US" sz="1800" dirty="0"/>
          </a:p>
          <a:p>
            <a:pPr marL="342900" indent="-342900">
              <a:lnSpc>
                <a:spcPct val="15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System Architecture</a:t>
            </a:r>
            <a:endParaRPr lang="en-US" sz="1800" dirty="0"/>
          </a:p>
          <a:p>
            <a:pPr marL="342900" indent="-342900">
              <a:lnSpc>
                <a:spcPct val="15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ABSTRACT</a:t>
            </a:r>
            <a:endParaRPr lang="en-US" sz="2000" dirty="0"/>
          </a:p>
        </p:txBody>
      </p:sp>
      <p:sp>
        <p:nvSpPr>
          <p:cNvPr id="3" name="Text 1"/>
          <p:cNvSpPr txBox="1"/>
          <p:nvPr/>
        </p:nvSpPr>
        <p:spPr>
          <a:xfrm>
            <a:off x="914400" y="1280160"/>
            <a:ext cx="10362895" cy="5120640"/>
          </a:xfrm>
          <a:prstGeom prst="rect">
            <a:avLst/>
          </a:prstGeom>
          <a:noFill/>
          <a:ln/>
        </p:spPr>
        <p:txBody>
          <a:bodyPr wrap="square" lIns="0" tIns="0" rIns="0" bIns="0" rtlCol="0" anchor="t"/>
          <a:lstStyle/>
          <a:p>
            <a:pPr marL="342900" indent="-342900">
              <a:lnSpc>
                <a:spcPct val="130000"/>
              </a:lnSpc>
              <a:spcAft>
                <a:spcPts val="16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Warehouses handling large volumes of goods traditionally rely on manual registers and spreadsheets to track stock. This often results in inaccurate inventory records, misplaced products, damaged goods going unnoticed, and delayed order fulfillment.</a:t>
            </a:r>
            <a:endParaRPr lang="en-US" sz="1800" dirty="0"/>
          </a:p>
          <a:p>
            <a:pPr marL="342900" indent="-342900">
              <a:lnSpc>
                <a:spcPct val="130000"/>
              </a:lnSpc>
              <a:spcAft>
                <a:spcPts val="16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The proposed Smart Warehouse Management System is a full-stack web application developed using the MERN stack — MongoDB, Express.js, React.js, and Node.js. The system digitally manages inventory, assigns and tracks storage locations, records every stock movement, and streamlines dispatch operations.</a:t>
            </a:r>
            <a:endParaRPr lang="en-US" sz="1800" dirty="0"/>
          </a:p>
          <a:p>
            <a:pPr marL="342900" indent="-342900">
              <a:lnSpc>
                <a:spcPct val="130000"/>
              </a:lnSpc>
              <a:spcAft>
                <a:spcPts val="16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Whenever stock is received, moved, or dispatched, the system updates inventory records in real time, ensuring warehouse staff and managers always have an accurate view of what is available, where it is stored, and what is ready to ship.</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INTRODUCTION</a:t>
            </a:r>
            <a:endParaRPr lang="en-US" sz="2000" dirty="0"/>
          </a:p>
        </p:txBody>
      </p:sp>
      <p:sp>
        <p:nvSpPr>
          <p:cNvPr id="3" name="Text 1"/>
          <p:cNvSpPr txBox="1"/>
          <p:nvPr/>
        </p:nvSpPr>
        <p:spPr>
          <a:xfrm>
            <a:off x="914400" y="1280160"/>
            <a:ext cx="10362895" cy="5120640"/>
          </a:xfrm>
          <a:prstGeom prst="rect">
            <a:avLst/>
          </a:prstGeom>
          <a:noFill/>
          <a:ln/>
        </p:spPr>
        <p:txBody>
          <a:bodyPr wrap="square" lIns="0" tIns="0" rIns="0" bIns="0" rtlCol="0" anchor="t"/>
          <a:lstStyle/>
          <a:p>
            <a:pPr marL="342900" indent="-342900">
              <a:lnSpc>
                <a:spcPct val="130000"/>
              </a:lnSpc>
              <a:spcAft>
                <a:spcPts val="16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Traditional warehouse operations depend on manual stock registers and physical verification, which do not scale well as the number of products (SKUs) grows.</a:t>
            </a:r>
            <a:endParaRPr lang="en-US" sz="1800" dirty="0"/>
          </a:p>
          <a:p>
            <a:pPr marL="342900" indent="-342900">
              <a:lnSpc>
                <a:spcPct val="130000"/>
              </a:lnSpc>
              <a:spcAft>
                <a:spcPts val="16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For example, a product received today may be placed on any available shelf without being logged accurately, making it difficult to locate later or to know precisely how much stock remains.</a:t>
            </a:r>
            <a:endParaRPr lang="en-US" sz="1800" dirty="0"/>
          </a:p>
          <a:p>
            <a:pPr marL="342900" indent="-342900">
              <a:lnSpc>
                <a:spcPct val="130000"/>
              </a:lnSpc>
              <a:spcAft>
                <a:spcPts val="16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The proposed system addresses this problem by digitally tracking every product, its assigned storage location, and every stock movement in real time.</a:t>
            </a:r>
            <a:endParaRPr lang="en-US" sz="1800" dirty="0"/>
          </a:p>
          <a:p>
            <a:pPr marL="342900" indent="-342900">
              <a:lnSpc>
                <a:spcPct val="130000"/>
              </a:lnSpc>
              <a:spcAft>
                <a:spcPts val="16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The system provides a centralized platform where warehouse staff and managers can monitor inventory, storage locations, and dispatch status at any time.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LITERATURE SURVEY :</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3596242035"/>
              </p:ext>
            </p:extLst>
          </p:nvPr>
        </p:nvGraphicFramePr>
        <p:xfrm>
          <a:off x="457200" y="1234440"/>
          <a:ext cx="10972800" cy="4425696"/>
        </p:xfrm>
        <a:graphic>
          <a:graphicData uri="http://schemas.openxmlformats.org/drawingml/2006/table">
            <a:tbl>
              <a:tblPr/>
              <a:tblGrid>
                <a:gridCol w="25603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877824">
                <a:tc>
                  <a:txBody>
                    <a:bodyP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SYSTEM / PLATFORM</a:t>
                      </a:r>
                      <a:endParaRPr lang="en-US" sz="20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B4E3B"/>
                    </a:solidFill>
                  </a:tcPr>
                </a:tc>
                <a:tc>
                  <a:txBody>
                    <a:bodyP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DESCRIPTION</a:t>
                      </a:r>
                      <a:endParaRPr lang="en-US" sz="20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B4E3B"/>
                    </a:solidFill>
                  </a:tcPr>
                </a:tc>
                <a:tc>
                  <a:txBody>
                    <a:bodyP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ADVANTAGES</a:t>
                      </a:r>
                      <a:endParaRPr lang="en-US" sz="20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B4E3B"/>
                    </a:solidFill>
                  </a:tcPr>
                </a:tc>
                <a:tc>
                  <a:txBody>
                    <a:bodyP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LIMITATIONS</a:t>
                      </a:r>
                      <a:endParaRPr lang="en-US" sz="20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B4E3B"/>
                    </a:solidFill>
                  </a:tcPr>
                </a:tc>
                <a:extLst>
                  <a:ext uri="{0D108BD9-81ED-4DB2-BD59-A6C34878D82A}">
                    <a16:rowId xmlns:a16="http://schemas.microsoft.com/office/drawing/2014/main" val="10000"/>
                  </a:ext>
                </a:extLst>
              </a:tr>
              <a:tr h="877824">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Manual Register / Excel Tracking</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Stock recorded by hand or spreadsheet</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Simple, no cost, easy to start</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Error-prone, no real-time sync</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877824">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Barcode-based Inventory Systems</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Uses barcode scanning for stock entry/exit</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Faster than manual entry</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Needs scanning hardware, limited analytics</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877824">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RFID Warehouse Systems</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Uses RFID tags to auto-track item location</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Real-time location tracking</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Expensive to deploy at scale</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877824">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ERP Inventory Modules (SAP, Tally, etc.)</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Enterprise software with inventory features</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Feature-rich, integrates with accounting</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l">
                        <a:buNone/>
                      </a:pPr>
                      <a:r>
                        <a:rPr lang="en-US" sz="1800" dirty="0">
                          <a:solidFill>
                            <a:srgbClr val="333333"/>
                          </a:solidFill>
                          <a:latin typeface="Times New Roman" pitchFamily="34" charset="0"/>
                          <a:ea typeface="Times New Roman" pitchFamily="34" charset="-122"/>
                          <a:cs typeface="Times New Roman" pitchFamily="34" charset="-120"/>
                        </a:rPr>
                        <a:t>Costly and complex for small warehouses</a:t>
                      </a:r>
                      <a:endParaRPr lang="en-US" sz="1800" dirty="0">
                        <a:latin typeface="Times New Roman" charset="0"/>
                        <a:ea typeface="Times New Roman" charset="0"/>
                        <a:cs typeface="Times New Roman"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EXISTING SYSTEM :</a:t>
            </a:r>
            <a:endParaRPr lang="en-US" sz="2000" dirty="0"/>
          </a:p>
        </p:txBody>
      </p:sp>
      <p:sp>
        <p:nvSpPr>
          <p:cNvPr id="3" name="Text 1"/>
          <p:cNvSpPr txBox="1"/>
          <p:nvPr/>
        </p:nvSpPr>
        <p:spPr>
          <a:xfrm>
            <a:off x="914400" y="1280160"/>
            <a:ext cx="10362895" cy="5120640"/>
          </a:xfrm>
          <a:prstGeom prst="rect">
            <a:avLst/>
          </a:prstGeom>
          <a:noFill/>
          <a:ln/>
        </p:spPr>
        <p:txBody>
          <a:bodyPr wrap="square" lIns="0" tIns="0" rIns="0" bIns="0" rtlCol="0" anchor="t"/>
          <a:lstStyle/>
          <a:p>
            <a:pPr marL="342900" indent="-342900">
              <a:lnSpc>
                <a:spcPct val="14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Manual stock registers</a:t>
            </a:r>
            <a:endParaRPr lang="en-US" sz="1800" dirty="0"/>
          </a:p>
          <a:p>
            <a:pPr marL="342900" indent="-342900">
              <a:lnSpc>
                <a:spcPct val="14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Excel/spreadsheet-based tracking</a:t>
            </a:r>
            <a:endParaRPr lang="en-US" sz="1800" dirty="0"/>
          </a:p>
          <a:p>
            <a:pPr marL="342900" indent="-342900">
              <a:lnSpc>
                <a:spcPct val="14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Physical shelf verification</a:t>
            </a:r>
            <a:endParaRPr lang="en-US" sz="1800" dirty="0"/>
          </a:p>
          <a:p>
            <a:pPr marL="342900" indent="-342900">
              <a:lnSpc>
                <a:spcPct val="14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Verbal or paper-based communication between staff</a:t>
            </a:r>
            <a:endParaRPr lang="en-US" sz="1800" dirty="0"/>
          </a:p>
          <a:p>
            <a:pPr marL="342900" indent="-342900">
              <a:lnSpc>
                <a:spcPct val="14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Manually prepared dispatch lists</a:t>
            </a:r>
            <a:endParaRPr lang="en-US" sz="1800" dirty="0"/>
          </a:p>
          <a:p>
            <a:pPr marL="342900" indent="-342900">
              <a:lnSpc>
                <a:spcPct val="14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Basic barcode scanning (in some warehouses)</a:t>
            </a:r>
            <a:endParaRPr lang="en-US" sz="1800" dirty="0"/>
          </a:p>
          <a:p>
            <a:pPr marL="0" indent="0">
              <a:lnSpc>
                <a:spcPct val="140000"/>
              </a:lnSpc>
              <a:buNone/>
            </a:pPr>
            <a:r>
              <a:rPr lang="en-US" sz="1800" dirty="0">
                <a:solidFill>
                  <a:srgbClr val="333333"/>
                </a:solidFill>
                <a:latin typeface="Times New Roman" pitchFamily="34" charset="0"/>
                <a:ea typeface="Times New Roman" pitchFamily="34" charset="-122"/>
                <a:cs typeface="Times New Roman" pitchFamily="34" charset="-120"/>
              </a:rPr>
              <a:t>Staff usually update stock records manually after goods are received or dispatched, and the system generally does not reflect the exact real-time location or condition of every product.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DISADVANTAGES</a:t>
            </a:r>
            <a:endParaRPr lang="en-US" sz="2000" dirty="0"/>
          </a:p>
        </p:txBody>
      </p:sp>
      <p:sp>
        <p:nvSpPr>
          <p:cNvPr id="3" name="Text 1"/>
          <p:cNvSpPr txBox="1"/>
          <p:nvPr/>
        </p:nvSpPr>
        <p:spPr>
          <a:xfrm>
            <a:off x="914400" y="1188720"/>
            <a:ext cx="10362895" cy="411480"/>
          </a:xfrm>
          <a:prstGeom prst="rect">
            <a:avLst/>
          </a:prstGeom>
          <a:noFill/>
          <a:ln/>
        </p:spPr>
        <p:txBody>
          <a:bodyPr wrap="square" lIns="0" tIns="0" rIns="0" bIns="0" rtlCol="0" anchor="ctr"/>
          <a:lstStyle/>
          <a:p>
            <a:pPr marL="0" indent="0">
              <a:buNone/>
            </a:pPr>
            <a:r>
              <a:rPr lang="en-US" sz="1800" b="1" dirty="0">
                <a:solidFill>
                  <a:srgbClr val="333333"/>
                </a:solidFill>
                <a:latin typeface="Times New Roman" pitchFamily="34" charset="0"/>
                <a:ea typeface="Times New Roman" pitchFamily="34" charset="-122"/>
                <a:cs typeface="Times New Roman" pitchFamily="34" charset="-120"/>
              </a:rPr>
              <a:t>DISADVANTAGES OF EXISTING SYSTEM</a:t>
            </a:r>
            <a:endParaRPr lang="en-US" sz="1800" dirty="0"/>
          </a:p>
        </p:txBody>
      </p:sp>
      <p:sp>
        <p:nvSpPr>
          <p:cNvPr id="4" name="Text 2"/>
          <p:cNvSpPr txBox="1"/>
          <p:nvPr/>
        </p:nvSpPr>
        <p:spPr>
          <a:xfrm>
            <a:off x="914400" y="1691640"/>
            <a:ext cx="10362895" cy="4754880"/>
          </a:xfrm>
          <a:prstGeom prst="rect">
            <a:avLst/>
          </a:prstGeom>
          <a:noFill/>
          <a:ln/>
        </p:spPr>
        <p:txBody>
          <a:bodyPr wrap="square" lIns="0" tIns="0" rIns="0" bIns="0" rtlCol="0" anchor="t"/>
          <a:lstStyle/>
          <a:p>
            <a:pPr marL="0" indent="0">
              <a:lnSpc>
                <a:spcPct val="110000"/>
              </a:lnSpc>
              <a:buNone/>
            </a:pPr>
            <a:r>
              <a:rPr lang="en-US" sz="1800" b="1" dirty="0">
                <a:solidFill>
                  <a:srgbClr val="333333"/>
                </a:solidFill>
                <a:latin typeface="Times New Roman" pitchFamily="34" charset="0"/>
                <a:ea typeface="Times New Roman" pitchFamily="34" charset="-122"/>
                <a:cs typeface="Times New Roman" pitchFamily="34" charset="-120"/>
              </a:rPr>
              <a:t>1. Inaccurate Inventory Records</a:t>
            </a:r>
            <a:endParaRPr lang="en-US" sz="1800" dirty="0"/>
          </a:p>
          <a:p>
            <a:pPr marL="0" indent="0">
              <a:lnSpc>
                <a:spcPct val="110000"/>
              </a:lnSpc>
              <a:spcAft>
                <a:spcPts val="1000"/>
              </a:spcAft>
              <a:buNone/>
            </a:pPr>
            <a:r>
              <a:rPr lang="en-US" sz="1800" dirty="0">
                <a:solidFill>
                  <a:srgbClr val="333333"/>
                </a:solidFill>
                <a:latin typeface="Times New Roman" pitchFamily="34" charset="0"/>
                <a:ea typeface="Times New Roman" pitchFamily="34" charset="-122"/>
                <a:cs typeface="Times New Roman" pitchFamily="34" charset="-120"/>
              </a:rPr>
              <a:t>Stock recorded in the system often does not match the actual quantity available on the shelf.</a:t>
            </a:r>
            <a:endParaRPr lang="en-US" sz="1800" dirty="0"/>
          </a:p>
          <a:p>
            <a:pPr marL="0" indent="0">
              <a:lnSpc>
                <a:spcPct val="110000"/>
              </a:lnSpc>
              <a:buNone/>
            </a:pPr>
            <a:r>
              <a:rPr lang="en-US" sz="1800" b="1" dirty="0">
                <a:solidFill>
                  <a:srgbClr val="333333"/>
                </a:solidFill>
                <a:latin typeface="Times New Roman" pitchFamily="34" charset="0"/>
                <a:ea typeface="Times New Roman" pitchFamily="34" charset="-122"/>
                <a:cs typeface="Times New Roman" pitchFamily="34" charset="-120"/>
              </a:rPr>
              <a:t>2. Misplaced Products</a:t>
            </a:r>
            <a:endParaRPr lang="en-US" sz="1800" dirty="0"/>
          </a:p>
          <a:p>
            <a:pPr marL="0" indent="0">
              <a:lnSpc>
                <a:spcPct val="110000"/>
              </a:lnSpc>
              <a:spcAft>
                <a:spcPts val="1000"/>
              </a:spcAft>
              <a:buNone/>
            </a:pPr>
            <a:r>
              <a:rPr lang="en-US" sz="1800" dirty="0">
                <a:solidFill>
                  <a:srgbClr val="333333"/>
                </a:solidFill>
                <a:latin typeface="Times New Roman" pitchFamily="34" charset="0"/>
                <a:ea typeface="Times New Roman" pitchFamily="34" charset="-122"/>
                <a:cs typeface="Times New Roman" pitchFamily="34" charset="-120"/>
              </a:rPr>
              <a:t>Products are stored without a fixed digital location, making them hard to find.</a:t>
            </a:r>
            <a:endParaRPr lang="en-US" sz="1800" dirty="0"/>
          </a:p>
          <a:p>
            <a:pPr marL="0" indent="0">
              <a:lnSpc>
                <a:spcPct val="110000"/>
              </a:lnSpc>
              <a:buNone/>
            </a:pPr>
            <a:r>
              <a:rPr lang="en-US" sz="1800" b="1" dirty="0">
                <a:solidFill>
                  <a:srgbClr val="333333"/>
                </a:solidFill>
                <a:latin typeface="Times New Roman" pitchFamily="34" charset="0"/>
                <a:ea typeface="Times New Roman" pitchFamily="34" charset="-122"/>
                <a:cs typeface="Times New Roman" pitchFamily="34" charset="-120"/>
              </a:rPr>
              <a:t>3. Damaged Products Go Unnoticed</a:t>
            </a:r>
            <a:endParaRPr lang="en-US" sz="1800" dirty="0"/>
          </a:p>
          <a:p>
            <a:pPr marL="0" indent="0">
              <a:lnSpc>
                <a:spcPct val="110000"/>
              </a:lnSpc>
              <a:spcAft>
                <a:spcPts val="1000"/>
              </a:spcAft>
              <a:buNone/>
            </a:pPr>
            <a:r>
              <a:rPr lang="en-US" sz="1800" dirty="0">
                <a:solidFill>
                  <a:srgbClr val="333333"/>
                </a:solidFill>
                <a:latin typeface="Times New Roman" pitchFamily="34" charset="0"/>
                <a:ea typeface="Times New Roman" pitchFamily="34" charset="-122"/>
                <a:cs typeface="Times New Roman" pitchFamily="34" charset="-120"/>
              </a:rPr>
              <a:t>Damaged stock is not flagged or removed from usable inventory in time.</a:t>
            </a:r>
            <a:endParaRPr lang="en-US" sz="1800" dirty="0"/>
          </a:p>
          <a:p>
            <a:pPr marL="0" indent="0">
              <a:lnSpc>
                <a:spcPct val="110000"/>
              </a:lnSpc>
              <a:buNone/>
            </a:pPr>
            <a:r>
              <a:rPr lang="en-US" sz="1800" b="1" dirty="0">
                <a:solidFill>
                  <a:srgbClr val="333333"/>
                </a:solidFill>
                <a:latin typeface="Times New Roman" pitchFamily="34" charset="0"/>
                <a:ea typeface="Times New Roman" pitchFamily="34" charset="-122"/>
                <a:cs typeface="Times New Roman" pitchFamily="34" charset="-120"/>
              </a:rPr>
              <a:t>4. Delayed Order Fulfillment</a:t>
            </a:r>
            <a:endParaRPr lang="en-US" sz="1800" dirty="0"/>
          </a:p>
          <a:p>
            <a:pPr marL="0" indent="0">
              <a:lnSpc>
                <a:spcPct val="110000"/>
              </a:lnSpc>
              <a:spcAft>
                <a:spcPts val="1000"/>
              </a:spcAft>
              <a:buNone/>
            </a:pPr>
            <a:r>
              <a:rPr lang="en-US" sz="1800" dirty="0">
                <a:solidFill>
                  <a:srgbClr val="333333"/>
                </a:solidFill>
                <a:latin typeface="Times New Roman" pitchFamily="34" charset="0"/>
                <a:ea typeface="Times New Roman" pitchFamily="34" charset="-122"/>
                <a:cs typeface="Times New Roman" pitchFamily="34" charset="-120"/>
              </a:rPr>
              <a:t>Lack of visibility into stock and location slows down picking and dispatch.</a:t>
            </a:r>
            <a:endParaRPr lang="en-US" sz="1800" dirty="0"/>
          </a:p>
          <a:p>
            <a:pPr marL="0" indent="0">
              <a:lnSpc>
                <a:spcPct val="110000"/>
              </a:lnSpc>
              <a:buNone/>
            </a:pPr>
            <a:r>
              <a:rPr lang="en-US" sz="1800" b="1" dirty="0">
                <a:solidFill>
                  <a:srgbClr val="333333"/>
                </a:solidFill>
                <a:latin typeface="Times New Roman" pitchFamily="34" charset="0"/>
                <a:ea typeface="Times New Roman" pitchFamily="34" charset="-122"/>
                <a:cs typeface="Times New Roman" pitchFamily="34" charset="-120"/>
              </a:rPr>
              <a:t>5. No Real-Time Stock Visibility</a:t>
            </a:r>
            <a:endParaRPr lang="en-US" sz="1800" dirty="0"/>
          </a:p>
          <a:p>
            <a:pPr marL="0" indent="0">
              <a:lnSpc>
                <a:spcPct val="110000"/>
              </a:lnSpc>
              <a:spcAft>
                <a:spcPts val="1000"/>
              </a:spcAft>
              <a:buNone/>
            </a:pPr>
            <a:r>
              <a:rPr lang="en-US" sz="1800" dirty="0">
                <a:solidFill>
                  <a:srgbClr val="333333"/>
                </a:solidFill>
                <a:latin typeface="Times New Roman" pitchFamily="34" charset="0"/>
                <a:ea typeface="Times New Roman" pitchFamily="34" charset="-122"/>
                <a:cs typeface="Times New Roman" pitchFamily="34" charset="-120"/>
              </a:rPr>
              <a:t>Managers cannot see current stock levels instantly.</a:t>
            </a:r>
            <a:endParaRPr lang="en-US" sz="1800" dirty="0"/>
          </a:p>
          <a:p>
            <a:pPr marL="0" indent="0">
              <a:lnSpc>
                <a:spcPct val="110000"/>
              </a:lnSpc>
              <a:buNone/>
            </a:pPr>
            <a:r>
              <a:rPr lang="en-US" sz="1800" b="1" dirty="0">
                <a:solidFill>
                  <a:srgbClr val="333333"/>
                </a:solidFill>
                <a:latin typeface="Times New Roman" pitchFamily="34" charset="0"/>
                <a:ea typeface="Times New Roman" pitchFamily="34" charset="-122"/>
                <a:cs typeface="Times New Roman" pitchFamily="34" charset="-120"/>
              </a:rPr>
              <a:t>6. Limited Analytics</a:t>
            </a:r>
            <a:endParaRPr lang="en-US" sz="1800" dirty="0"/>
          </a:p>
          <a:p>
            <a:pPr marL="0" indent="0">
              <a:lnSpc>
                <a:spcPct val="110000"/>
              </a:lnSpc>
              <a:spcAft>
                <a:spcPts val="1000"/>
              </a:spcAft>
              <a:buNone/>
            </a:pPr>
            <a:r>
              <a:rPr lang="en-US" sz="1800" dirty="0">
                <a:solidFill>
                  <a:srgbClr val="333333"/>
                </a:solidFill>
                <a:latin typeface="Times New Roman" pitchFamily="34" charset="0"/>
                <a:ea typeface="Times New Roman" pitchFamily="34" charset="-122"/>
                <a:cs typeface="Times New Roman" pitchFamily="34" charset="-120"/>
              </a:rPr>
              <a:t>Little to no data on fast-moving items, stock aging, or dispatch performance.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PROPOSED SYSTEM :</a:t>
            </a:r>
            <a:endParaRPr lang="en-US" sz="2000" dirty="0"/>
          </a:p>
        </p:txBody>
      </p:sp>
      <p:sp>
        <p:nvSpPr>
          <p:cNvPr id="3" name="Text 1"/>
          <p:cNvSpPr txBox="1"/>
          <p:nvPr/>
        </p:nvSpPr>
        <p:spPr>
          <a:xfrm>
            <a:off x="914400" y="1280160"/>
            <a:ext cx="10362895" cy="5120640"/>
          </a:xfrm>
          <a:prstGeom prst="rect">
            <a:avLst/>
          </a:prstGeom>
          <a:noFill/>
          <a:ln/>
        </p:spPr>
        <p:txBody>
          <a:bodyPr wrap="square" lIns="0" tIns="0" rIns="0" bIns="0" rtlCol="0" anchor="t"/>
          <a:lstStyle/>
          <a:p>
            <a:pPr marL="0" indent="0">
              <a:lnSpc>
                <a:spcPct val="115000"/>
              </a:lnSpc>
              <a:spcAft>
                <a:spcPts val="1000"/>
              </a:spcAft>
              <a:buNone/>
            </a:pPr>
            <a:r>
              <a:rPr lang="en-US" sz="1800" dirty="0">
                <a:solidFill>
                  <a:srgbClr val="333333"/>
                </a:solidFill>
                <a:latin typeface="Times New Roman" pitchFamily="34" charset="0"/>
                <a:ea typeface="Times New Roman" pitchFamily="34" charset="-122"/>
                <a:cs typeface="Times New Roman" pitchFamily="34" charset="-120"/>
              </a:rPr>
              <a:t>The proposed system is a MERN-based Smart Warehouse Management System that digitally manages inventory, storage locations, stock movement, and dispatch operations in real time.</a:t>
            </a:r>
            <a:endParaRPr lang="en-US" sz="1800" dirty="0"/>
          </a:p>
          <a:p>
            <a:pPr marL="0" indent="0">
              <a:lnSpc>
                <a:spcPct val="115000"/>
              </a:lnSpc>
              <a:spcAft>
                <a:spcPts val="400"/>
              </a:spcAft>
              <a:buNone/>
            </a:pPr>
            <a:r>
              <a:rPr lang="en-US" sz="1800" b="1" dirty="0">
                <a:solidFill>
                  <a:srgbClr val="333333"/>
                </a:solidFill>
                <a:latin typeface="Times New Roman" pitchFamily="34" charset="0"/>
                <a:ea typeface="Times New Roman" pitchFamily="34" charset="-122"/>
                <a:cs typeface="Times New Roman" pitchFamily="34" charset="-120"/>
              </a:rPr>
              <a:t>The system allows warehouse staff to:</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Register/login securely</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Add and update product details</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Assign storage locations to products</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Record inward stock (goods received)</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Record outward stock (goods dispatched)</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Track real-time stock quantity and location</a:t>
            </a:r>
            <a:endParaRPr lang="en-US" sz="1800" dirty="0"/>
          </a:p>
          <a:p>
            <a:pPr marL="0" indent="0">
              <a:lnSpc>
                <a:spcPct val="115000"/>
              </a:lnSpc>
              <a:spcAft>
                <a:spcPts val="400"/>
              </a:spcAft>
              <a:buNone/>
            </a:pPr>
            <a:r>
              <a:rPr lang="en-US" sz="1800" b="1" dirty="0">
                <a:solidFill>
                  <a:srgbClr val="333333"/>
                </a:solidFill>
                <a:latin typeface="Times New Roman" pitchFamily="34" charset="0"/>
                <a:ea typeface="Times New Roman" pitchFamily="34" charset="-122"/>
                <a:cs typeface="Times New Roman" pitchFamily="34" charset="-120"/>
              </a:rPr>
              <a:t>The dispatch team can:</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Create and manage customer orders</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Generate picking lists</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Mark orders as dispatched</a:t>
            </a:r>
            <a:endParaRPr lang="en-US" sz="1800" dirty="0"/>
          </a:p>
          <a:p>
            <a:pPr marL="342900" indent="-342900">
              <a:lnSpc>
                <a:spcPct val="115000"/>
              </a:lnSpc>
              <a:spcAft>
                <a:spcPts val="3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View order and dispatch history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ADVANTAGES :</a:t>
            </a:r>
            <a:endParaRPr lang="en-US" sz="2000" dirty="0"/>
          </a:p>
        </p:txBody>
      </p:sp>
      <p:sp>
        <p:nvSpPr>
          <p:cNvPr id="3" name="Text 1"/>
          <p:cNvSpPr txBox="1"/>
          <p:nvPr/>
        </p:nvSpPr>
        <p:spPr>
          <a:xfrm>
            <a:off x="914400" y="1280160"/>
            <a:ext cx="10362895" cy="5212080"/>
          </a:xfrm>
          <a:prstGeom prst="rect">
            <a:avLst/>
          </a:prstGeom>
          <a:noFill/>
          <a:ln/>
        </p:spPr>
        <p:txBody>
          <a:bodyPr wrap="square" lIns="0" tIns="0" rIns="0" bIns="0" rtlCol="0" anchor="t"/>
          <a:lstStyle/>
          <a:p>
            <a:pPr marL="342900" indent="-342900">
              <a:lnSpc>
                <a:spcPct val="105000"/>
              </a:lnSpc>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Accurate Inventory</a:t>
            </a:r>
            <a:endParaRPr lang="en-US" sz="1800" dirty="0"/>
          </a:p>
          <a:p>
            <a:pPr marL="0" lvl="1" indent="0">
              <a:lnSpc>
                <a:spcPct val="105000"/>
              </a:lnSpc>
              <a:spcAft>
                <a:spcPts val="800"/>
              </a:spcAft>
              <a:buNone/>
            </a:pPr>
            <a:r>
              <a:rPr lang="en-US" sz="1800" dirty="0">
                <a:solidFill>
                  <a:srgbClr val="333333"/>
                </a:solidFill>
                <a:latin typeface="Times New Roman" pitchFamily="34" charset="0"/>
                <a:ea typeface="Times New Roman" pitchFamily="34" charset="-122"/>
                <a:cs typeface="Times New Roman" pitchFamily="34" charset="-120"/>
              </a:rPr>
              <a:t>Real-time stock counts always match actual shelf quantities.</a:t>
            </a:r>
            <a:endParaRPr lang="en-US" sz="1800" dirty="0"/>
          </a:p>
          <a:p>
            <a:pPr marL="342900" indent="-342900">
              <a:lnSpc>
                <a:spcPct val="105000"/>
              </a:lnSpc>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Reduced Misplacement</a:t>
            </a:r>
            <a:endParaRPr lang="en-US" sz="1800" dirty="0"/>
          </a:p>
          <a:p>
            <a:pPr marL="0" lvl="1" indent="0">
              <a:lnSpc>
                <a:spcPct val="105000"/>
              </a:lnSpc>
              <a:spcAft>
                <a:spcPts val="800"/>
              </a:spcAft>
              <a:buNone/>
            </a:pPr>
            <a:r>
              <a:rPr lang="en-US" sz="1800" dirty="0">
                <a:solidFill>
                  <a:srgbClr val="333333"/>
                </a:solidFill>
                <a:latin typeface="Times New Roman" pitchFamily="34" charset="0"/>
                <a:ea typeface="Times New Roman" pitchFamily="34" charset="-122"/>
                <a:cs typeface="Times New Roman" pitchFamily="34" charset="-120"/>
              </a:rPr>
              <a:t>Every product has a known, trackable storage location.</a:t>
            </a:r>
            <a:endParaRPr lang="en-US" sz="1800" dirty="0"/>
          </a:p>
          <a:p>
            <a:pPr marL="342900" indent="-342900">
              <a:lnSpc>
                <a:spcPct val="105000"/>
              </a:lnSpc>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Faster Order Fulfillment</a:t>
            </a:r>
            <a:endParaRPr lang="en-US" sz="1800" dirty="0"/>
          </a:p>
          <a:p>
            <a:pPr marL="0" lvl="1" indent="0">
              <a:lnSpc>
                <a:spcPct val="105000"/>
              </a:lnSpc>
              <a:spcAft>
                <a:spcPts val="800"/>
              </a:spcAft>
              <a:buNone/>
            </a:pPr>
            <a:r>
              <a:rPr lang="en-US" sz="1800" dirty="0">
                <a:solidFill>
                  <a:srgbClr val="333333"/>
                </a:solidFill>
                <a:latin typeface="Times New Roman" pitchFamily="34" charset="0"/>
                <a:ea typeface="Times New Roman" pitchFamily="34" charset="-122"/>
                <a:cs typeface="Times New Roman" pitchFamily="34" charset="-120"/>
              </a:rPr>
              <a:t>Staff instantly know quantity and location, speeding up dispatch.</a:t>
            </a:r>
            <a:endParaRPr lang="en-US" sz="1800" dirty="0"/>
          </a:p>
          <a:p>
            <a:pPr marL="342900" indent="-342900">
              <a:lnSpc>
                <a:spcPct val="105000"/>
              </a:lnSpc>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Damage Tracking</a:t>
            </a:r>
            <a:endParaRPr lang="en-US" sz="1800" dirty="0"/>
          </a:p>
          <a:p>
            <a:pPr marL="0" lvl="1" indent="0">
              <a:lnSpc>
                <a:spcPct val="105000"/>
              </a:lnSpc>
              <a:spcAft>
                <a:spcPts val="800"/>
              </a:spcAft>
              <a:buNone/>
            </a:pPr>
            <a:r>
              <a:rPr lang="en-US" sz="1800" dirty="0">
                <a:solidFill>
                  <a:srgbClr val="333333"/>
                </a:solidFill>
                <a:latin typeface="Times New Roman" pitchFamily="34" charset="0"/>
                <a:ea typeface="Times New Roman" pitchFamily="34" charset="-122"/>
                <a:cs typeface="Times New Roman" pitchFamily="34" charset="-120"/>
              </a:rPr>
              <a:t>Damaged stock is flagged and excluded from sellable inventory.</a:t>
            </a:r>
            <a:endParaRPr lang="en-US" sz="1800" dirty="0"/>
          </a:p>
          <a:p>
            <a:pPr marL="342900" indent="-342900">
              <a:lnSpc>
                <a:spcPct val="105000"/>
              </a:lnSpc>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Improved Visibility</a:t>
            </a:r>
            <a:endParaRPr lang="en-US" sz="1800" dirty="0"/>
          </a:p>
          <a:p>
            <a:pPr marL="0" lvl="1" indent="0">
              <a:lnSpc>
                <a:spcPct val="105000"/>
              </a:lnSpc>
              <a:spcAft>
                <a:spcPts val="800"/>
              </a:spcAft>
              <a:buNone/>
            </a:pPr>
            <a:r>
              <a:rPr lang="en-US" sz="1800" dirty="0">
                <a:solidFill>
                  <a:srgbClr val="333333"/>
                </a:solidFill>
                <a:latin typeface="Times New Roman" pitchFamily="34" charset="0"/>
                <a:ea typeface="Times New Roman" pitchFamily="34" charset="-122"/>
                <a:cs typeface="Times New Roman" pitchFamily="34" charset="-120"/>
              </a:rPr>
              <a:t>Managers can monitor stock, location, and dispatch status anytime.</a:t>
            </a:r>
            <a:endParaRPr lang="en-US" sz="1800" dirty="0"/>
          </a:p>
          <a:p>
            <a:pPr marL="342900" indent="-342900">
              <a:lnSpc>
                <a:spcPct val="105000"/>
              </a:lnSpc>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Warehouse Analytics</a:t>
            </a:r>
            <a:endParaRPr lang="en-US" sz="1800" dirty="0"/>
          </a:p>
          <a:p>
            <a:pPr marL="0" lvl="1" indent="0">
              <a:lnSpc>
                <a:spcPct val="105000"/>
              </a:lnSpc>
              <a:spcAft>
                <a:spcPts val="800"/>
              </a:spcAft>
              <a:buNone/>
            </a:pPr>
            <a:r>
              <a:rPr lang="en-US" sz="1800" dirty="0">
                <a:solidFill>
                  <a:srgbClr val="333333"/>
                </a:solidFill>
                <a:latin typeface="Times New Roman" pitchFamily="34" charset="0"/>
                <a:ea typeface="Times New Roman" pitchFamily="34" charset="-122"/>
                <a:cs typeface="Times New Roman" pitchFamily="34" charset="-120"/>
              </a:rPr>
              <a:t>Insights into fast-moving items, stock aging, and dispatch trends.</a:t>
            </a:r>
            <a:endParaRPr lang="en-US" sz="1800" dirty="0"/>
          </a:p>
          <a:p>
            <a:pPr marL="342900" indent="-342900">
              <a:lnSpc>
                <a:spcPct val="105000"/>
              </a:lnSpc>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Scalable Architecture</a:t>
            </a:r>
            <a:endParaRPr lang="en-US" sz="1800" dirty="0"/>
          </a:p>
          <a:p>
            <a:pPr marL="0" lvl="1" indent="0">
              <a:lnSpc>
                <a:spcPct val="105000"/>
              </a:lnSpc>
              <a:spcAft>
                <a:spcPts val="800"/>
              </a:spcAft>
              <a:buNone/>
            </a:pPr>
            <a:r>
              <a:rPr lang="en-US" sz="1800" dirty="0">
                <a:solidFill>
                  <a:srgbClr val="333333"/>
                </a:solidFill>
                <a:latin typeface="Times New Roman" pitchFamily="34" charset="0"/>
                <a:ea typeface="Times New Roman" pitchFamily="34" charset="-122"/>
                <a:cs typeface="Times New Roman" pitchFamily="34" charset="-120"/>
              </a:rPr>
              <a:t>The MERN architecture allows the system to extend to multiple warehouses.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SYSTEM REQUIREMENTS &amp; SPECIFICATIONS</a:t>
            </a:r>
            <a:endParaRPr lang="en-US" sz="2000" dirty="0"/>
          </a:p>
        </p:txBody>
      </p:sp>
      <p:sp>
        <p:nvSpPr>
          <p:cNvPr id="3" name="Text 1"/>
          <p:cNvSpPr txBox="1"/>
          <p:nvPr/>
        </p:nvSpPr>
        <p:spPr>
          <a:xfrm>
            <a:off x="731520" y="1234440"/>
            <a:ext cx="5120640" cy="365760"/>
          </a:xfrm>
          <a:prstGeom prst="rect">
            <a:avLst/>
          </a:prstGeom>
          <a:noFill/>
          <a:ln/>
        </p:spPr>
        <p:txBody>
          <a:bodyPr wrap="square" lIns="0" tIns="0" rIns="0" bIns="0" rtlCol="0" anchor="ctr"/>
          <a:lstStyle/>
          <a:p>
            <a:pPr marL="0" indent="0">
              <a:buNone/>
            </a:pPr>
            <a:r>
              <a:rPr lang="en-US" sz="1800" b="1" dirty="0">
                <a:solidFill>
                  <a:srgbClr val="333333"/>
                </a:solidFill>
                <a:latin typeface="Times New Roman" pitchFamily="34" charset="0"/>
                <a:ea typeface="Times New Roman" pitchFamily="34" charset="-122"/>
                <a:cs typeface="Times New Roman" pitchFamily="34" charset="-120"/>
              </a:rPr>
              <a:t>HARDWARE SPECIFICATIONS</a:t>
            </a:r>
            <a:endParaRPr lang="en-US" sz="1800" dirty="0"/>
          </a:p>
        </p:txBody>
      </p:sp>
      <p:sp>
        <p:nvSpPr>
          <p:cNvPr id="4" name="Text 2"/>
          <p:cNvSpPr txBox="1"/>
          <p:nvPr/>
        </p:nvSpPr>
        <p:spPr>
          <a:xfrm>
            <a:off x="731520" y="1691640"/>
            <a:ext cx="5212080" cy="32918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Processor: Intel Core i5 / equivalent or above</a:t>
            </a:r>
            <a:endParaRPr lang="en-US" sz="1800" dirty="0"/>
          </a:p>
          <a:p>
            <a:pPr marL="342900" indent="-342900">
              <a:lnSpc>
                <a:spcPct val="115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RAM: 4 GB minimum, 8 GB recommended</a:t>
            </a:r>
            <a:endParaRPr lang="en-US" sz="1800" dirty="0"/>
          </a:p>
          <a:p>
            <a:pPr marL="342900" indent="-342900">
              <a:lnSpc>
                <a:spcPct val="115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Storage: 10 GB available space</a:t>
            </a:r>
            <a:endParaRPr lang="en-US" sz="1800" dirty="0"/>
          </a:p>
          <a:p>
            <a:pPr marL="342900" indent="-342900">
              <a:lnSpc>
                <a:spcPct val="115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Input Device: Keyboard and Mouse</a:t>
            </a:r>
            <a:endParaRPr lang="en-US" sz="1800" dirty="0"/>
          </a:p>
          <a:p>
            <a:pPr marL="342900" indent="-342900">
              <a:lnSpc>
                <a:spcPct val="115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Display: 1366 × 768 or above</a:t>
            </a:r>
            <a:endParaRPr lang="en-US" sz="1800" dirty="0"/>
          </a:p>
          <a:p>
            <a:pPr marL="342900" indent="-342900">
              <a:lnSpc>
                <a:spcPct val="115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Internet connection required</a:t>
            </a:r>
            <a:endParaRPr lang="en-US" sz="1800" dirty="0"/>
          </a:p>
        </p:txBody>
      </p:sp>
      <p:sp>
        <p:nvSpPr>
          <p:cNvPr id="5" name="Text 3"/>
          <p:cNvSpPr txBox="1"/>
          <p:nvPr/>
        </p:nvSpPr>
        <p:spPr>
          <a:xfrm>
            <a:off x="6309360" y="1234440"/>
            <a:ext cx="5120640" cy="365760"/>
          </a:xfrm>
          <a:prstGeom prst="rect">
            <a:avLst/>
          </a:prstGeom>
          <a:noFill/>
          <a:ln/>
        </p:spPr>
        <p:txBody>
          <a:bodyPr wrap="square" lIns="0" tIns="0" rIns="0" bIns="0" rtlCol="0" anchor="ctr"/>
          <a:lstStyle/>
          <a:p>
            <a:pPr marL="0" indent="0">
              <a:buNone/>
            </a:pPr>
            <a:r>
              <a:rPr lang="en-US" sz="1800" b="1" dirty="0">
                <a:solidFill>
                  <a:srgbClr val="333333"/>
                </a:solidFill>
                <a:latin typeface="Times New Roman" pitchFamily="34" charset="0"/>
                <a:ea typeface="Times New Roman" pitchFamily="34" charset="-122"/>
                <a:cs typeface="Times New Roman" pitchFamily="34" charset="-120"/>
              </a:rPr>
              <a:t>SOFTWARE SPECIFICATIONS</a:t>
            </a:r>
            <a:endParaRPr lang="en-US" sz="1800" dirty="0"/>
          </a:p>
        </p:txBody>
      </p:sp>
      <p:sp>
        <p:nvSpPr>
          <p:cNvPr id="6" name="Text 4"/>
          <p:cNvSpPr txBox="1"/>
          <p:nvPr/>
        </p:nvSpPr>
        <p:spPr>
          <a:xfrm>
            <a:off x="6309360" y="1691640"/>
            <a:ext cx="5212080" cy="4754880"/>
          </a:xfrm>
          <a:prstGeom prst="rect">
            <a:avLst/>
          </a:prstGeom>
          <a:noFill/>
          <a:ln/>
        </p:spPr>
        <p:txBody>
          <a:bodyPr wrap="square" lIns="0" tIns="0" rIns="0" bIns="0" rtlCol="0" anchor="t"/>
          <a:lstStyle/>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Operating System: Windows / Linux / macOS</a:t>
            </a:r>
            <a:endParaRPr lang="en-US" sz="1800" dirty="0"/>
          </a:p>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Frontend: React.js</a:t>
            </a:r>
            <a:endParaRPr lang="en-US" sz="1800" dirty="0"/>
          </a:p>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Backend: Node.js + Express.js</a:t>
            </a:r>
            <a:endParaRPr lang="en-US" sz="1800" dirty="0"/>
          </a:p>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Database: MongoDB</a:t>
            </a:r>
            <a:endParaRPr lang="en-US" sz="1800" dirty="0"/>
          </a:p>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ODM: Mongoose</a:t>
            </a:r>
            <a:endParaRPr lang="en-US" sz="1800" dirty="0"/>
          </a:p>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Programming Language: JavaScript</a:t>
            </a:r>
            <a:endParaRPr lang="en-US" sz="1800" dirty="0"/>
          </a:p>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Authentication: JWT + bcrypt</a:t>
            </a:r>
            <a:endParaRPr lang="en-US" sz="1800" dirty="0"/>
          </a:p>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Real-Time Communication: Socket.IO</a:t>
            </a:r>
            <a:endParaRPr lang="en-US" sz="1800" dirty="0"/>
          </a:p>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Development Tools: VS Code, Git, npm</a:t>
            </a:r>
            <a:endParaRPr lang="en-US" sz="1800" dirty="0"/>
          </a:p>
          <a:p>
            <a:pPr marL="342900" indent="-342900">
              <a:lnSpc>
                <a:spcPct val="100000"/>
              </a:lnSpc>
              <a:spcAft>
                <a:spcPts val="1000"/>
              </a:spcAft>
              <a:buSzPct val="100000"/>
              <a:buChar char="•"/>
            </a:pPr>
            <a:r>
              <a:rPr lang="en-US" sz="1800" dirty="0">
                <a:solidFill>
                  <a:srgbClr val="333333"/>
                </a:solidFill>
                <a:latin typeface="Times New Roman" pitchFamily="34" charset="0"/>
                <a:ea typeface="Times New Roman" pitchFamily="34" charset="-122"/>
                <a:cs typeface="Times New Roman" pitchFamily="34" charset="-120"/>
              </a:rPr>
              <a:t>Browser: Chrome / Edge / Firefox</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SYSTEM ARCHITECTURE :</a:t>
            </a:r>
            <a:endParaRPr lang="en-US" sz="2000" dirty="0"/>
          </a:p>
        </p:txBody>
      </p:sp>
      <p:pic>
        <p:nvPicPr>
          <p:cNvPr id="71" name="Picture 70">
            <a:extLst>
              <a:ext uri="{FF2B5EF4-FFF2-40B4-BE49-F238E27FC236}">
                <a16:creationId xmlns:a16="http://schemas.microsoft.com/office/drawing/2014/main" id="{5389F365-80B4-7059-25F3-4967010CC521}"/>
              </a:ext>
            </a:extLst>
          </p:cNvPr>
          <p:cNvPicPr>
            <a:picLocks noChangeAspect="1"/>
          </p:cNvPicPr>
          <p:nvPr/>
        </p:nvPicPr>
        <p:blipFill>
          <a:blip r:embed="rId3"/>
          <a:stretch>
            <a:fillRect/>
          </a:stretch>
        </p:blipFill>
        <p:spPr>
          <a:xfrm>
            <a:off x="592273" y="1045962"/>
            <a:ext cx="11007148" cy="53921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77295" cy="548640"/>
          </a:xfrm>
          <a:prstGeom prst="rect">
            <a:avLst/>
          </a:prstGeom>
          <a:noFill/>
          <a:ln/>
        </p:spPr>
        <p:txBody>
          <a:bodyPr wrap="square" lIns="0" tIns="0" rIns="0" bIns="0" rtlCol="0" anchor="ctr"/>
          <a:lstStyle/>
          <a:p>
            <a:pPr marL="0" indent="0" algn="l">
              <a:buNone/>
            </a:pPr>
            <a:r>
              <a:rPr lang="en-US" sz="2000" dirty="0">
                <a:solidFill>
                  <a:srgbClr val="5B4E3B"/>
                </a:solidFill>
                <a:latin typeface="Times New Roman" pitchFamily="34" charset="0"/>
                <a:ea typeface="Times New Roman" pitchFamily="34" charset="-122"/>
                <a:cs typeface="Times New Roman" pitchFamily="34" charset="-120"/>
              </a:rPr>
              <a:t>REFERENCES :</a:t>
            </a:r>
            <a:endParaRPr lang="en-US" sz="2000" dirty="0"/>
          </a:p>
        </p:txBody>
      </p:sp>
      <p:sp>
        <p:nvSpPr>
          <p:cNvPr id="3" name="Text 1"/>
          <p:cNvSpPr txBox="1"/>
          <p:nvPr/>
        </p:nvSpPr>
        <p:spPr>
          <a:xfrm>
            <a:off x="914400" y="1280160"/>
            <a:ext cx="10362895" cy="5120640"/>
          </a:xfrm>
          <a:prstGeom prst="rect">
            <a:avLst/>
          </a:prstGeom>
          <a:noFill/>
          <a:ln/>
        </p:spPr>
        <p:txBody>
          <a:bodyPr wrap="square" lIns="0" tIns="0" rIns="0" bIns="0" rtlCol="0" anchor="t"/>
          <a:lstStyle/>
          <a:p>
            <a:pPr marL="342900" indent="-342900">
              <a:lnSpc>
                <a:spcPct val="130000"/>
              </a:lnSpc>
              <a:spcAft>
                <a:spcPts val="1000"/>
              </a:spcAft>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Gwynne Richards, </a:t>
            </a:r>
            <a:r>
              <a:rPr lang="en-US" sz="1800" dirty="0">
                <a:solidFill>
                  <a:srgbClr val="333333"/>
                </a:solidFill>
                <a:latin typeface="Times New Roman" pitchFamily="34" charset="0"/>
                <a:ea typeface="Times New Roman" pitchFamily="34" charset="-122"/>
                <a:cs typeface="Times New Roman" pitchFamily="34" charset="-120"/>
              </a:rPr>
              <a:t>Warehouse Management: A Complete Guide to Improving Efficiency, Kogan Page.</a:t>
            </a:r>
            <a:endParaRPr lang="en-US" sz="1800" dirty="0"/>
          </a:p>
          <a:p>
            <a:pPr marL="342900" indent="-342900">
              <a:lnSpc>
                <a:spcPct val="130000"/>
              </a:lnSpc>
              <a:spcAft>
                <a:spcPts val="1000"/>
              </a:spcAft>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Edward Frazelle,</a:t>
            </a:r>
            <a:r>
              <a:rPr lang="en-US" sz="1800" dirty="0">
                <a:solidFill>
                  <a:srgbClr val="333333"/>
                </a:solidFill>
                <a:latin typeface="Times New Roman" pitchFamily="34" charset="0"/>
                <a:ea typeface="Times New Roman" pitchFamily="34" charset="-122"/>
                <a:cs typeface="Times New Roman" pitchFamily="34" charset="-120"/>
              </a:rPr>
              <a:t> World-Class Warehousing and Material Handling, McGraw-Hill.</a:t>
            </a:r>
            <a:endParaRPr lang="en-US" sz="1800" dirty="0"/>
          </a:p>
          <a:p>
            <a:pPr marL="342900" indent="-342900">
              <a:lnSpc>
                <a:spcPct val="130000"/>
              </a:lnSpc>
              <a:spcAft>
                <a:spcPts val="1000"/>
              </a:spcAft>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Alex Banks and Eve Porcello,</a:t>
            </a:r>
            <a:r>
              <a:rPr lang="en-US" sz="1800" dirty="0">
                <a:solidFill>
                  <a:srgbClr val="333333"/>
                </a:solidFill>
                <a:latin typeface="Times New Roman" pitchFamily="34" charset="0"/>
                <a:ea typeface="Times New Roman" pitchFamily="34" charset="-122"/>
                <a:cs typeface="Times New Roman" pitchFamily="34" charset="-120"/>
              </a:rPr>
              <a:t> Learning React, O'Reilly Media.</a:t>
            </a:r>
            <a:endParaRPr lang="en-US" sz="1800" dirty="0"/>
          </a:p>
          <a:p>
            <a:pPr marL="342900" indent="-342900">
              <a:lnSpc>
                <a:spcPct val="130000"/>
              </a:lnSpc>
              <a:spcAft>
                <a:spcPts val="1000"/>
              </a:spcAft>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Ethan Brown,</a:t>
            </a:r>
            <a:r>
              <a:rPr lang="en-US" sz="1800" dirty="0">
                <a:solidFill>
                  <a:srgbClr val="333333"/>
                </a:solidFill>
                <a:latin typeface="Times New Roman" pitchFamily="34" charset="0"/>
                <a:ea typeface="Times New Roman" pitchFamily="34" charset="-122"/>
                <a:cs typeface="Times New Roman" pitchFamily="34" charset="-120"/>
              </a:rPr>
              <a:t> Web Development with Node and Express, O'Reilly Media.</a:t>
            </a:r>
            <a:endParaRPr lang="en-US" sz="1800" dirty="0"/>
          </a:p>
          <a:p>
            <a:pPr marL="342900" indent="-342900">
              <a:lnSpc>
                <a:spcPct val="130000"/>
              </a:lnSpc>
              <a:spcAft>
                <a:spcPts val="1000"/>
              </a:spcAft>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Kristina Chodorow,</a:t>
            </a:r>
            <a:r>
              <a:rPr lang="en-US" sz="1800" dirty="0">
                <a:solidFill>
                  <a:srgbClr val="333333"/>
                </a:solidFill>
                <a:latin typeface="Times New Roman" pitchFamily="34" charset="0"/>
                <a:ea typeface="Times New Roman" pitchFamily="34" charset="-122"/>
                <a:cs typeface="Times New Roman" pitchFamily="34" charset="-120"/>
              </a:rPr>
              <a:t> MongoDB: The Definitive Guide, O'Reilly Media.</a:t>
            </a:r>
            <a:endParaRPr lang="en-US" sz="1800" dirty="0"/>
          </a:p>
          <a:p>
            <a:pPr marL="342900" indent="-342900">
              <a:lnSpc>
                <a:spcPct val="130000"/>
              </a:lnSpc>
              <a:spcAft>
                <a:spcPts val="1000"/>
              </a:spcAft>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David Herron,</a:t>
            </a:r>
            <a:r>
              <a:rPr lang="en-US" sz="1800" dirty="0">
                <a:solidFill>
                  <a:srgbClr val="333333"/>
                </a:solidFill>
                <a:latin typeface="Times New Roman" pitchFamily="34" charset="0"/>
                <a:ea typeface="Times New Roman" pitchFamily="34" charset="-122"/>
                <a:cs typeface="Times New Roman" pitchFamily="34" charset="-120"/>
              </a:rPr>
              <a:t> Node.js Web Development, Packt Publishing.</a:t>
            </a:r>
            <a:endParaRPr lang="en-US" sz="1800" dirty="0"/>
          </a:p>
          <a:p>
            <a:pPr marL="342900" indent="-342900">
              <a:lnSpc>
                <a:spcPct val="130000"/>
              </a:lnSpc>
              <a:spcAft>
                <a:spcPts val="1000"/>
              </a:spcAft>
              <a:buSzPct val="100000"/>
              <a:buChar char="•"/>
            </a:pPr>
            <a:r>
              <a:rPr lang="en-US" sz="1800" b="1" dirty="0">
                <a:solidFill>
                  <a:srgbClr val="333333"/>
                </a:solidFill>
                <a:latin typeface="Times New Roman" pitchFamily="34" charset="0"/>
                <a:ea typeface="Times New Roman" pitchFamily="34" charset="-122"/>
                <a:cs typeface="Times New Roman" pitchFamily="34" charset="-120"/>
              </a:rPr>
              <a:t>David Flanagan,</a:t>
            </a:r>
            <a:r>
              <a:rPr lang="en-US" sz="1800" dirty="0">
                <a:solidFill>
                  <a:srgbClr val="333333"/>
                </a:solidFill>
                <a:latin typeface="Times New Roman" pitchFamily="34" charset="0"/>
                <a:ea typeface="Times New Roman" pitchFamily="34" charset="-122"/>
                <a:cs typeface="Times New Roman" pitchFamily="34" charset="-120"/>
              </a:rPr>
              <a:t> JavaScript: The Definitive Guide, O'Reilly Media.</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1F1"/>
        </a:solidFill>
        <a:effectLst/>
      </p:bgPr>
    </p:bg>
    <p:spTree>
      <p:nvGrpSpPr>
        <p:cNvPr id="1" name=""/>
        <p:cNvGrpSpPr/>
        <p:nvPr/>
      </p:nvGrpSpPr>
      <p:grpSpPr>
        <a:xfrm>
          <a:off x="0" y="0"/>
          <a:ext cx="0" cy="0"/>
          <a:chOff x="0" y="0"/>
          <a:chExt cx="0" cy="0"/>
        </a:xfrm>
      </p:grpSpPr>
      <p:sp>
        <p:nvSpPr>
          <p:cNvPr id="2" name="Text 0"/>
          <p:cNvSpPr txBox="1"/>
          <p:nvPr/>
        </p:nvSpPr>
        <p:spPr>
          <a:xfrm>
            <a:off x="914400" y="2926080"/>
            <a:ext cx="10362895" cy="914400"/>
          </a:xfrm>
          <a:prstGeom prst="rect">
            <a:avLst/>
          </a:prstGeom>
          <a:noFill/>
          <a:ln/>
        </p:spPr>
        <p:txBody>
          <a:bodyPr wrap="square" lIns="0" tIns="0" rIns="0" bIns="0" rtlCol="0" anchor="ctr"/>
          <a:lstStyle/>
          <a:p>
            <a:pPr marL="0" indent="0" algn="ctr">
              <a:buNone/>
            </a:pPr>
            <a:r>
              <a:rPr lang="en-US" sz="2800" b="1" dirty="0">
                <a:solidFill>
                  <a:srgbClr val="333333"/>
                </a:solidFill>
                <a:latin typeface="Times New Roman" pitchFamily="34" charset="0"/>
                <a:ea typeface="Times New Roman" pitchFamily="34" charset="-122"/>
                <a:cs typeface="Times New Roman" pitchFamily="34" charset="-120"/>
              </a:rPr>
              <a:t>THANK YOU !</a:t>
            </a:r>
            <a:endParaRPr lang="en-US" sz="2800" dirty="0"/>
          </a:p>
        </p:txBody>
      </p:sp>
    </p:spTree>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Helena</Template>
  <TotalTime>356</TotalTime>
  <Words>996</Words>
  <Application>Microsoft Office PowerPoint</Application>
  <PresentationFormat>Widescreen</PresentationFormat>
  <Paragraphs>142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Neue Haas Grotesk Text Pro</vt:lpstr>
      <vt:lpstr>Times New Roman</vt:lpstr>
      <vt:lpstr>Helena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AKSHAY J</cp:lastModifiedBy>
  <cp:revision>2</cp:revision>
  <dcterms:created xsi:type="dcterms:W3CDTF">2026-09-06T13:33:29Z</dcterms:created>
  <dcterms:modified xsi:type="dcterms:W3CDTF">2026-09-17T08:35:16Z</dcterms:modified>
</cp:coreProperties>
</file>